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6"/>
    <p:restoredTop sz="94707"/>
  </p:normalViewPr>
  <p:slideViewPr>
    <p:cSldViewPr snapToGrid="0" snapToObjects="1">
      <p:cViewPr>
        <p:scale>
          <a:sx n="102" d="100"/>
          <a:sy n="102" d="100"/>
        </p:scale>
        <p:origin x="656" y="7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rappi-kam-agent.vercel.app/dashboar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nrope"/>
                <a:cs typeface="Manrope"/>
              </a:rPr>
              <a:t>RAPPI AI BUILDER CHALLENGE —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111111"/>
                </a:solidFill>
                <a:latin typeface="Manrope"/>
                <a:cs typeface="Manrope"/>
              </a:rPr>
              <a:t>Proactive Risk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440A"/>
                </a:solidFill>
                <a:latin typeface="Manrope"/>
                <a:cs typeface="Manrope"/>
              </a:rPr>
              <a:t>Agent for Rappi KAMs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023360"/>
            <a:ext cx="420624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4251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Manrope"/>
                <a:cs typeface="Manrope"/>
              </a:rPr>
              <a:t>Néstor Martínez Ostoa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Manrope"/>
                <a:cs typeface="Manrope"/>
              </a:rPr>
              <a:t>nestor.martinez.ostoa@gmail.com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April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144A55-BDDF-9C4F-9EF2-A9A2648A6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168399" cy="4910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411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THE CHALLENGE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nrope"/>
                <a:cs typeface="Manrope"/>
              </a:rPr>
              <a:t>Rappi AI Builder Challenge ·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0528"/>
            <a:ext cx="25877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8A8A8A"/>
                </a:solidFill>
                <a:latin typeface="Manrope"/>
                <a:cs typeface="Manrope"/>
              </a:rPr>
              <a:t>02 / 1</a:t>
            </a:r>
            <a:r>
              <a:rPr lang="es-ES" sz="900" b="0" dirty="0">
                <a:solidFill>
                  <a:srgbClr val="8A8A8A"/>
                </a:solidFill>
                <a:latin typeface="Manrope"/>
                <a:cs typeface="Manrope"/>
              </a:rPr>
              <a:t>1</a:t>
            </a:r>
            <a:endParaRPr sz="900" b="0" dirty="0">
              <a:solidFill>
                <a:srgbClr val="8A8A8A"/>
              </a:solidFill>
              <a:latin typeface="Manrope"/>
              <a:cs typeface="Manrop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440A"/>
                </a:solidFill>
                <a:latin typeface="Manrope"/>
                <a:cs typeface="Manrope"/>
              </a:rPr>
              <a:t>01 /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Manrope"/>
                <a:cs typeface="Manrope"/>
              </a:rPr>
              <a:t>The problem, in one 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3657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11111"/>
                </a:solidFill>
                <a:latin typeface="Manrope"/>
                <a:cs typeface="Manrope"/>
              </a:rPr>
              <a:t>A Rappi KAM manages 300–600 restaurants.</a:t>
            </a:r>
          </a:p>
          <a:p>
            <a:pPr algn="l"/>
            <a:r>
              <a:rPr sz="2200" b="0">
                <a:solidFill>
                  <a:srgbClr val="111111"/>
                </a:solidFill>
                <a:latin typeface="Manrope"/>
                <a:cs typeface="Manrope"/>
              </a:rPr>
              <a:t>They can only engage with ~30 per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F440A"/>
                </a:solidFill>
                <a:latin typeface="Manrope"/>
                <a:cs typeface="Manrope"/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of a KAM's portfolio is unmonitored at any given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420624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44348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F440A"/>
                </a:solidFill>
                <a:latin typeface="Manrope"/>
                <a:cs typeface="Manrope"/>
              </a:rPr>
              <a:t>43.5%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1206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of restaurants already sit in risk or critical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20624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44348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F440A"/>
                </a:solidFill>
                <a:latin typeface="Manrope"/>
                <a:cs typeface="Manrope"/>
              </a:rPr>
              <a:t>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is the current time-to-detection for deteriorating accounts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58E33B-41E6-A435-0903-9CBA2CFE9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52"/>
            <a:ext cx="1168399" cy="491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411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APPROACH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nrope"/>
                <a:cs typeface="Manrope"/>
              </a:rPr>
              <a:t>Rappi AI Builder Challenge ·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0528"/>
            <a:ext cx="25877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8A8A8A"/>
                </a:solidFill>
                <a:latin typeface="Manrope"/>
                <a:cs typeface="Manrope"/>
              </a:rPr>
              <a:t>03 / 1</a:t>
            </a:r>
            <a:r>
              <a:rPr lang="es-ES" sz="900" b="0" dirty="0">
                <a:solidFill>
                  <a:srgbClr val="8A8A8A"/>
                </a:solidFill>
                <a:latin typeface="Manrope"/>
                <a:cs typeface="Manrop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440A"/>
                </a:solidFill>
                <a:latin typeface="Manrope"/>
                <a:cs typeface="Manrope"/>
              </a:rPr>
              <a:t>02 /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Manrope"/>
                <a:cs typeface="Manrope"/>
              </a:rPr>
              <a:t>My thought process.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3657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8A8A8A"/>
                </a:solidFill>
                <a:latin typeface="Manrope"/>
                <a:cs typeface="Manrope"/>
              </a:rPr>
              <a:t>Three sequential questions, answered before writing a line of code.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352044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2995751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>
                <a:solidFill>
                  <a:srgbClr val="FF440A"/>
                </a:solidFill>
                <a:latin typeface="Manrope"/>
                <a:cs typeface="Manrope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3611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Manrope"/>
                <a:cs typeface="Manrope"/>
              </a:rPr>
              <a:t>Define the</a:t>
            </a:r>
          </a:p>
          <a:p>
            <a:pPr algn="l"/>
            <a:r>
              <a:rPr sz="2200" b="1">
                <a:solidFill>
                  <a:srgbClr val="111111"/>
                </a:solidFill>
                <a:latin typeface="Manrope"/>
                <a:cs typeface="Manrope"/>
              </a:rPr>
              <a:t>business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Who is the user, what do they need,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how is value measured?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995751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F440A"/>
                </a:solidFill>
                <a:latin typeface="Manrope"/>
                <a:cs typeface="Manrope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474720"/>
            <a:ext cx="3611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379476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111111"/>
                </a:solidFill>
                <a:latin typeface="Manrope"/>
                <a:cs typeface="Manrope"/>
              </a:rPr>
              <a:t>Design the</a:t>
            </a:r>
          </a:p>
          <a:p>
            <a:pPr algn="l"/>
            <a:r>
              <a:rPr sz="2200" b="1" dirty="0">
                <a:solidFill>
                  <a:srgbClr val="111111"/>
                </a:solidFill>
                <a:latin typeface="Manrope"/>
                <a:cs typeface="Manrope"/>
              </a:rPr>
              <a:t>solution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16636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Which layers, which contracts,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which trade-offs?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995751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F440A"/>
                </a:solidFill>
                <a:latin typeface="Manrope"/>
                <a:cs typeface="Manrope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3474720"/>
            <a:ext cx="3611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379476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Manrope"/>
                <a:cs typeface="Manrope"/>
              </a:rPr>
              <a:t>Design the</a:t>
            </a:r>
          </a:p>
          <a:p>
            <a:pPr algn="l"/>
            <a:r>
              <a:rPr sz="2200" b="1">
                <a:solidFill>
                  <a:srgbClr val="111111"/>
                </a:solidFill>
                <a:latin typeface="Manrope"/>
                <a:cs typeface="Manrope"/>
              </a:rPr>
              <a:t>agent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6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How does the AI actually reason,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route and act?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6E854EE-5838-AAEE-6200-0B9E96164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52"/>
            <a:ext cx="1168399" cy="4910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411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BUSINESS CASE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nrope"/>
                <a:cs typeface="Manrope"/>
              </a:rPr>
              <a:t>Rappi AI Builder Challenge ·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0528"/>
            <a:ext cx="25877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8A8A8A"/>
                </a:solidFill>
                <a:latin typeface="Manrope"/>
                <a:cs typeface="Manrope"/>
              </a:rPr>
              <a:t>04 / 1</a:t>
            </a:r>
            <a:r>
              <a:rPr lang="es-ES" sz="900" b="0" dirty="0">
                <a:solidFill>
                  <a:srgbClr val="8A8A8A"/>
                </a:solidFill>
                <a:latin typeface="Manrope"/>
                <a:cs typeface="Manrope"/>
              </a:rPr>
              <a:t>1</a:t>
            </a:r>
            <a:endParaRPr sz="900" b="0" dirty="0">
              <a:solidFill>
                <a:srgbClr val="8A8A8A"/>
              </a:solidFill>
              <a:latin typeface="Manrope"/>
              <a:cs typeface="Manrop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440A"/>
                </a:solidFill>
                <a:latin typeface="Manrope"/>
                <a:cs typeface="Manrope"/>
              </a:rPr>
              <a:t>03 /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Manrope"/>
                <a:cs typeface="Manrope"/>
              </a:rPr>
              <a:t>A marketplace of tensions.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3657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Manrope"/>
                <a:cs typeface="Manrope"/>
              </a:rPr>
              <a:t>Every actor pulls in a different direction. The KAM is in the middle.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65744"/>
            <a:ext cx="2697480" cy="1129559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365744"/>
            <a:ext cx="411480" cy="731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54799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111111"/>
                </a:solidFill>
                <a:latin typeface="Manrope"/>
                <a:cs typeface="Manrope"/>
              </a:rPr>
              <a:t>KAM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04364"/>
            <a:ext cx="22402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8A8A8A"/>
                </a:solidFill>
                <a:latin typeface="Manrope"/>
                <a:cs typeface="Manrope"/>
              </a:rPr>
              <a:t>Pressured, stretched thin.</a:t>
            </a:r>
          </a:p>
          <a:p>
            <a:pPr algn="l"/>
            <a:r>
              <a:rPr sz="1100" b="0" dirty="0">
                <a:solidFill>
                  <a:srgbClr val="8A8A8A"/>
                </a:solidFill>
                <a:latin typeface="Manrope"/>
                <a:cs typeface="Manrope"/>
              </a:rPr>
              <a:t>93% of portfolio unmonitored.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0E0F658-AD23-5E86-1EEA-980C0D725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52"/>
            <a:ext cx="1168399" cy="49109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AB7AFA0-DD17-AA03-3A60-A8BBE4C511E5}"/>
              </a:ext>
            </a:extLst>
          </p:cNvPr>
          <p:cNvSpPr/>
          <p:nvPr/>
        </p:nvSpPr>
        <p:spPr>
          <a:xfrm>
            <a:off x="459288" y="4870952"/>
            <a:ext cx="2697480" cy="1144045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59ADAC-3883-AB55-EE40-AB8105A5249D}"/>
              </a:ext>
            </a:extLst>
          </p:cNvPr>
          <p:cNvSpPr/>
          <p:nvPr/>
        </p:nvSpPr>
        <p:spPr>
          <a:xfrm>
            <a:off x="459288" y="4870952"/>
            <a:ext cx="411480" cy="731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F46CE2-C5DE-67E8-90F9-EFB3A2E3A22B}"/>
              </a:ext>
            </a:extLst>
          </p:cNvPr>
          <p:cNvSpPr txBox="1"/>
          <p:nvPr/>
        </p:nvSpPr>
        <p:spPr>
          <a:xfrm>
            <a:off x="687888" y="5053206"/>
            <a:ext cx="2240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rgbClr val="111111"/>
                </a:solidFill>
                <a:latin typeface="Manrope"/>
                <a:cs typeface="Manrope"/>
              </a:rPr>
              <a:t>Restaurant</a:t>
            </a:r>
          </a:p>
          <a:p>
            <a:pPr algn="l"/>
            <a:endParaRPr sz="1800" b="1" dirty="0">
              <a:solidFill>
                <a:srgbClr val="111111"/>
              </a:solidFill>
              <a:latin typeface="Manrope"/>
              <a:cs typeface="Manrope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6878A8-238F-E91C-CD2E-D95D22D763E1}"/>
              </a:ext>
            </a:extLst>
          </p:cNvPr>
          <p:cNvSpPr txBox="1"/>
          <p:nvPr/>
        </p:nvSpPr>
        <p:spPr>
          <a:xfrm>
            <a:off x="687888" y="5409572"/>
            <a:ext cx="2240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dirty="0">
                <a:solidFill>
                  <a:srgbClr val="8A8A8A"/>
                </a:solidFill>
                <a:latin typeface="Manrope"/>
                <a:cs typeface="Manrope"/>
              </a:rPr>
              <a:t>Dependent but resentful.</a:t>
            </a:r>
          </a:p>
          <a:p>
            <a:r>
              <a:rPr lang="en-US" sz="1100" dirty="0">
                <a:solidFill>
                  <a:srgbClr val="8A8A8A"/>
                </a:solidFill>
                <a:latin typeface="Manrope"/>
                <a:cs typeface="Manrope"/>
              </a:rPr>
              <a:t>Silent churn to the next KAM.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A51F3D-9A34-27B6-6308-648F39580D06}"/>
              </a:ext>
            </a:extLst>
          </p:cNvPr>
          <p:cNvSpPr/>
          <p:nvPr/>
        </p:nvSpPr>
        <p:spPr>
          <a:xfrm>
            <a:off x="3518352" y="3351266"/>
            <a:ext cx="2697480" cy="1144039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73EAD5-B121-62EB-EEFE-C973803BAF36}"/>
              </a:ext>
            </a:extLst>
          </p:cNvPr>
          <p:cNvSpPr/>
          <p:nvPr/>
        </p:nvSpPr>
        <p:spPr>
          <a:xfrm>
            <a:off x="3518352" y="3351266"/>
            <a:ext cx="411480" cy="731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DDB9-6409-9F91-76DD-FDE852EA216F}"/>
              </a:ext>
            </a:extLst>
          </p:cNvPr>
          <p:cNvSpPr txBox="1"/>
          <p:nvPr/>
        </p:nvSpPr>
        <p:spPr>
          <a:xfrm>
            <a:off x="3746952" y="3533520"/>
            <a:ext cx="22402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rgbClr val="111111"/>
                </a:solidFill>
                <a:latin typeface="Manrope"/>
                <a:cs typeface="Manrope"/>
              </a:rPr>
              <a:t>Competitors</a:t>
            </a:r>
            <a:endParaRPr sz="1800" b="1" dirty="0">
              <a:solidFill>
                <a:srgbClr val="111111"/>
              </a:solidFill>
              <a:latin typeface="Manrope"/>
              <a:cs typeface="Manrope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F9ADAC-0BDB-DB7E-FE60-244461DCE51A}"/>
              </a:ext>
            </a:extLst>
          </p:cNvPr>
          <p:cNvSpPr txBox="1"/>
          <p:nvPr/>
        </p:nvSpPr>
        <p:spPr>
          <a:xfrm>
            <a:off x="3746952" y="3889886"/>
            <a:ext cx="2240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dirty="0">
                <a:solidFill>
                  <a:srgbClr val="8A8A8A"/>
                </a:solidFill>
                <a:latin typeface="Manrope"/>
                <a:cs typeface="Manrope"/>
              </a:rPr>
              <a:t>Aggressive, opportunistic.</a:t>
            </a:r>
          </a:p>
          <a:p>
            <a:r>
              <a:rPr lang="en-US" sz="1100" dirty="0">
                <a:solidFill>
                  <a:srgbClr val="8A8A8A"/>
                </a:solidFill>
                <a:latin typeface="Manrope"/>
                <a:cs typeface="Manrope"/>
              </a:rPr>
              <a:t>Any gap is an opening.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9EFD4D-AD20-ADE0-E211-6CE9D64A1416}"/>
              </a:ext>
            </a:extLst>
          </p:cNvPr>
          <p:cNvSpPr/>
          <p:nvPr/>
        </p:nvSpPr>
        <p:spPr>
          <a:xfrm>
            <a:off x="3520440" y="4856474"/>
            <a:ext cx="2697480" cy="1144041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ACB914A-053D-10E0-A133-8C23B7E745B5}"/>
              </a:ext>
            </a:extLst>
          </p:cNvPr>
          <p:cNvSpPr/>
          <p:nvPr/>
        </p:nvSpPr>
        <p:spPr>
          <a:xfrm>
            <a:off x="3520440" y="4856474"/>
            <a:ext cx="411480" cy="731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052A28-52CA-C975-9165-7E55C7E4C874}"/>
              </a:ext>
            </a:extLst>
          </p:cNvPr>
          <p:cNvSpPr txBox="1"/>
          <p:nvPr/>
        </p:nvSpPr>
        <p:spPr>
          <a:xfrm>
            <a:off x="3749040" y="5038728"/>
            <a:ext cx="22402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rgbClr val="111111"/>
                </a:solidFill>
                <a:latin typeface="Manrope"/>
                <a:cs typeface="Manrope"/>
              </a:rPr>
              <a:t>Consumers</a:t>
            </a:r>
          </a:p>
          <a:p>
            <a:pPr algn="l"/>
            <a:endParaRPr sz="1800" b="1" dirty="0">
              <a:solidFill>
                <a:srgbClr val="111111"/>
              </a:solidFill>
              <a:latin typeface="Manrope"/>
              <a:cs typeface="Manrope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00B16F-FC86-1ACC-8A48-8F719CB6121F}"/>
              </a:ext>
            </a:extLst>
          </p:cNvPr>
          <p:cNvSpPr txBox="1"/>
          <p:nvPr/>
        </p:nvSpPr>
        <p:spPr>
          <a:xfrm>
            <a:off x="3749040" y="5395094"/>
            <a:ext cx="22402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dirty="0">
                <a:solidFill>
                  <a:srgbClr val="8A8A8A"/>
                </a:solidFill>
                <a:latin typeface="Manrope"/>
                <a:cs typeface="Manrope"/>
              </a:rPr>
              <a:t>Impatient, disloyal.</a:t>
            </a:r>
          </a:p>
          <a:p>
            <a:r>
              <a:rPr lang="en-US" sz="1100" dirty="0">
                <a:solidFill>
                  <a:srgbClr val="8A8A8A"/>
                </a:solidFill>
                <a:latin typeface="Manrope"/>
                <a:cs typeface="Manrope"/>
              </a:rPr>
              <a:t>They leave before they complain.</a:t>
            </a:r>
          </a:p>
        </p:txBody>
      </p:sp>
      <p:pic>
        <p:nvPicPr>
          <p:cNvPr id="51" name="Picture 50" descr="A screenshot of a website&#10;&#10;AI-generated content may be incorrect.">
            <a:extLst>
              <a:ext uri="{FF2B5EF4-FFF2-40B4-BE49-F238E27FC236}">
                <a16:creationId xmlns:a16="http://schemas.microsoft.com/office/drawing/2014/main" id="{D411103E-86D7-3D9F-195B-1C0EF086E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867" y="1190476"/>
            <a:ext cx="4195433" cy="4402250"/>
          </a:xfrm>
          <a:prstGeom prst="rect">
            <a:avLst/>
          </a:prstGeom>
        </p:spPr>
      </p:pic>
      <p:pic>
        <p:nvPicPr>
          <p:cNvPr id="53" name="Picture 52" descr="A close up of text&#10;&#10;AI-generated content may be incorrect.">
            <a:extLst>
              <a:ext uri="{FF2B5EF4-FFF2-40B4-BE49-F238E27FC236}">
                <a16:creationId xmlns:a16="http://schemas.microsoft.com/office/drawing/2014/main" id="{30C3DD38-3A06-553D-D2A1-5B144AB8C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867" y="5680887"/>
            <a:ext cx="2008075" cy="639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411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BUSINESS CASE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nrope"/>
                <a:cs typeface="Manrope"/>
              </a:rPr>
              <a:t>Rappi AI Builder Challenge ·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0528"/>
            <a:ext cx="25877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8A8A8A"/>
                </a:solidFill>
                <a:latin typeface="Manrope"/>
                <a:cs typeface="Manrope"/>
              </a:rPr>
              <a:t>05 / 1</a:t>
            </a:r>
            <a:r>
              <a:rPr lang="es-ES" sz="900" b="0" dirty="0">
                <a:solidFill>
                  <a:srgbClr val="8A8A8A"/>
                </a:solidFill>
                <a:latin typeface="Manrope"/>
                <a:cs typeface="Manrope"/>
              </a:rPr>
              <a:t>1</a:t>
            </a:r>
            <a:endParaRPr sz="900" b="0" dirty="0">
              <a:solidFill>
                <a:srgbClr val="8A8A8A"/>
              </a:solidFill>
              <a:latin typeface="Manrope"/>
              <a:cs typeface="Manrop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440A"/>
                </a:solidFill>
                <a:latin typeface="Manrope"/>
                <a:cs typeface="Manrope"/>
              </a:rPr>
              <a:t>03 /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Manrope"/>
                <a:cs typeface="Manrope"/>
              </a:rPr>
              <a:t>Health ×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3657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Manrope"/>
                <a:cs typeface="Manrope"/>
              </a:rPr>
              <a:t>Two axes replace the traditional traffic light — what's wrong and what to grow.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Manrope"/>
                <a:cs typeface="Manrope"/>
              </a:rPr>
              <a:t>↑ High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Manrope"/>
                <a:cs typeface="Manrope"/>
              </a:rPr>
              <a:t>↓ Low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897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Manrope"/>
                <a:cs typeface="Manrope"/>
              </a:rPr>
              <a:t>↑ High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897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Manrope"/>
                <a:cs typeface="Manrope"/>
              </a:rPr>
              <a:t>↓ Low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612648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246120"/>
            <a:ext cx="3840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0" y="35204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Manrope"/>
                <a:cs typeface="Manrope"/>
              </a:rPr>
              <a:t>GROW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0233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Protect and expand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246120"/>
            <a:ext cx="3840480" cy="1280160"/>
          </a:xfrm>
          <a:prstGeom prst="rect">
            <a:avLst/>
          </a:prstGeom>
          <a:solidFill>
            <a:srgbClr val="FF440A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35204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nrope"/>
                <a:cs typeface="Manrope"/>
              </a:rPr>
              <a:t>RESCUE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233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DDD0"/>
                </a:solidFill>
                <a:latin typeface="Manrope"/>
                <a:cs typeface="Manrope"/>
              </a:rPr>
              <a:t>Stop the bleeding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4526280"/>
            <a:ext cx="3840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49040" y="48006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Manrope"/>
                <a:cs typeface="Manrope"/>
              </a:rPr>
              <a:t>NURTURE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5303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Help them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4526280"/>
            <a:ext cx="3840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0" y="48006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Manrope"/>
                <a:cs typeface="Manrope"/>
              </a:rPr>
              <a:t>TRIAGE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303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Evaluate viability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852D118-6D92-8D2C-517A-14E16BA7A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52"/>
            <a:ext cx="1168399" cy="491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411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BUSINESS CASE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nrope"/>
                <a:cs typeface="Manrope"/>
              </a:rPr>
              <a:t>Rappi AI Builder Challenge ·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0528"/>
            <a:ext cx="25877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8A8A8A"/>
                </a:solidFill>
                <a:latin typeface="Manrope"/>
                <a:cs typeface="Manrope"/>
              </a:rPr>
              <a:t>06 / 1</a:t>
            </a:r>
            <a:r>
              <a:rPr lang="es-ES" sz="900" b="0" dirty="0">
                <a:solidFill>
                  <a:srgbClr val="8A8A8A"/>
                </a:solidFill>
                <a:latin typeface="Manrope"/>
                <a:cs typeface="Manrope"/>
              </a:rPr>
              <a:t>1</a:t>
            </a:r>
            <a:endParaRPr sz="900" b="0" dirty="0">
              <a:solidFill>
                <a:srgbClr val="8A8A8A"/>
              </a:solidFill>
              <a:latin typeface="Manrope"/>
              <a:cs typeface="Manrop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440A"/>
                </a:solidFill>
                <a:latin typeface="Manrope"/>
                <a:cs typeface="Manrope"/>
              </a:rPr>
              <a:t>03 /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Manrope"/>
                <a:cs typeface="Manrope"/>
              </a:rPr>
              <a:t>Six signals, one Health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3657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Manrope"/>
                <a:cs typeface="Manrope"/>
              </a:rPr>
              <a:t>Signals selected via hierarchical clustering. Weights are business-driven.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Manrope"/>
                <a:cs typeface="Manrope"/>
              </a:rPr>
              <a:t>delta_rating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29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Rating trajectory — earliest warning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3538728"/>
            <a:ext cx="2377440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78240" y="3538728"/>
            <a:ext cx="2377440" cy="12801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47120" y="34290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11111"/>
                </a:solidFill>
                <a:latin typeface="Manrope"/>
                <a:cs typeface="Manrope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679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Manrope"/>
                <a:cs typeface="Manrope"/>
              </a:rPr>
              <a:t>tasa_cancelacion_pct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6791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Most directly actionable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3977640"/>
            <a:ext cx="2377440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78240" y="3977640"/>
            <a:ext cx="1901952" cy="12801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47120" y="386791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11111"/>
                </a:solidFill>
                <a:latin typeface="Manrope"/>
                <a:cs typeface="Manrope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0682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Manrope"/>
                <a:cs typeface="Manrope"/>
              </a:rPr>
              <a:t>quejas_7d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30682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Real-time complaint intensity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416552"/>
            <a:ext cx="2377440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78240" y="4416552"/>
            <a:ext cx="1901952" cy="12801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47120" y="4306824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11111"/>
                </a:solidFill>
                <a:latin typeface="Manrope"/>
                <a:cs typeface="Manrope"/>
              </a:rP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4573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Manrope"/>
                <a:cs typeface="Manrope"/>
              </a:rPr>
              <a:t>rating_actual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74573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Current consumer perception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4855464"/>
            <a:ext cx="2377440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778240" y="4855464"/>
            <a:ext cx="1426464" cy="12801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0" y="474573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11111"/>
                </a:solidFill>
                <a:latin typeface="Manrope"/>
                <a:cs typeface="Manrope"/>
              </a:rP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846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Manrope"/>
                <a:cs typeface="Manrope"/>
              </a:rPr>
              <a:t>tiempo_entrega_avg_min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18464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Silent killer — consumers leave first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5294376"/>
            <a:ext cx="2377440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78240" y="5294376"/>
            <a:ext cx="950976" cy="12801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247120" y="51846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11111"/>
                </a:solidFill>
                <a:latin typeface="Manrope"/>
                <a:cs typeface="Manrope"/>
              </a:rPr>
              <a:t>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23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Manrope"/>
                <a:cs typeface="Manrope"/>
              </a:rPr>
              <a:t>var_ordenes_pct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6235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Demand trajectory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5733288"/>
            <a:ext cx="2377440" cy="1280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778240" y="5733288"/>
            <a:ext cx="950976" cy="12801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247120" y="56235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11111"/>
                </a:solidFill>
                <a:latin typeface="Manrope"/>
                <a:cs typeface="Manrope"/>
              </a:rPr>
              <a:t>10%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F4AE300-2F49-32B9-34F5-0DE3A487E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52"/>
            <a:ext cx="1168399" cy="4910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411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SOLUTION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nrope"/>
                <a:cs typeface="Manrope"/>
              </a:rPr>
              <a:t>Rappi AI Builder Challenge ·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0528"/>
            <a:ext cx="25877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8A8A8A"/>
                </a:solidFill>
                <a:latin typeface="Manrope"/>
                <a:cs typeface="Manrope"/>
              </a:rPr>
              <a:t>07 / 1</a:t>
            </a:r>
            <a:r>
              <a:rPr lang="es-ES" sz="900" b="0" dirty="0">
                <a:solidFill>
                  <a:srgbClr val="8A8A8A"/>
                </a:solidFill>
                <a:latin typeface="Manrope"/>
                <a:cs typeface="Manrop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440A"/>
                </a:solidFill>
                <a:latin typeface="Manrope"/>
                <a:cs typeface="Manrope"/>
              </a:rPr>
              <a:t>04 / SOLUTION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Manrope"/>
                <a:cs typeface="Manrope"/>
              </a:rPr>
              <a:t>Deterministic math, LLM reasoning.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3657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Manrope"/>
                <a:cs typeface="Manrope"/>
              </a:rPr>
              <a:t>Two principles that govern every technical decision.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54864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411480" cy="731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Manrope"/>
                <a:cs typeface="Manrope"/>
              </a:rPr>
              <a:t>Deterministic scoring,</a:t>
            </a:r>
          </a:p>
          <a:p>
            <a:pPr algn="l"/>
            <a:r>
              <a:rPr sz="2200" b="1">
                <a:solidFill>
                  <a:srgbClr val="111111"/>
                </a:solidFill>
                <a:latin typeface="Manrope"/>
                <a:cs typeface="Manrope"/>
              </a:rPr>
              <a:t>LLM for strategy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Health scores, quadrants and velocity overrides are computed in pandas — fast, reproducible and auditable. Agents consume structured results via tool calls and generate natural language, never raw metrics.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474720"/>
            <a:ext cx="54864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474720"/>
            <a:ext cx="411480" cy="731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84048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Manrope"/>
                <a:cs typeface="Manrope"/>
              </a:rPr>
              <a:t>Provider-agnostic</a:t>
            </a:r>
          </a:p>
          <a:p>
            <a:pPr algn="l"/>
            <a:r>
              <a:rPr sz="2200" b="1">
                <a:solidFill>
                  <a:srgbClr val="111111"/>
                </a:solidFill>
                <a:latin typeface="Manrope"/>
                <a:cs typeface="Manrope"/>
              </a:rPr>
              <a:t>LLM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9204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All LLM calls flow through a thin adapter. Ships with Gemini, swaps to OpenAI or Anthropic without touching agent logic — and each agent can run on the provider where it performs best.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53C3B6-CCA9-6A05-D863-B47716E7B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52"/>
            <a:ext cx="1168399" cy="4910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411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SOLUTION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nrope"/>
                <a:cs typeface="Manrope"/>
              </a:rPr>
              <a:t>Rappi AI Builder Challenge ·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0528"/>
            <a:ext cx="25877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8A8A8A"/>
                </a:solidFill>
                <a:latin typeface="Manrope"/>
                <a:cs typeface="Manrope"/>
              </a:rPr>
              <a:t>08 / 1</a:t>
            </a:r>
            <a:r>
              <a:rPr lang="es-ES" sz="900" b="0" dirty="0">
                <a:solidFill>
                  <a:srgbClr val="8A8A8A"/>
                </a:solidFill>
                <a:latin typeface="Manrope"/>
                <a:cs typeface="Manrope"/>
              </a:rPr>
              <a:t>1</a:t>
            </a:r>
            <a:endParaRPr sz="900" b="0" dirty="0">
              <a:solidFill>
                <a:srgbClr val="8A8A8A"/>
              </a:solidFill>
              <a:latin typeface="Manrope"/>
              <a:cs typeface="Manrop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440A"/>
                </a:solidFill>
                <a:latin typeface="Manrope"/>
                <a:cs typeface="Manrope"/>
              </a:rPr>
              <a:t>04 / SOLUTION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Manrope"/>
                <a:cs typeface="Manrope"/>
              </a:rPr>
              <a:t>The stack.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3657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595156"/>
            <a:ext cx="11274552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595156"/>
            <a:ext cx="73152" cy="5303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231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Manrope"/>
                <a:cs typeface="Manrope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23172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8A8A8A"/>
                </a:solidFill>
                <a:latin typeface="Manrope"/>
                <a:cs typeface="Manrope"/>
              </a:rPr>
              <a:t>Next.js</a:t>
            </a:r>
            <a:r>
              <a:rPr sz="1200" b="0" dirty="0">
                <a:solidFill>
                  <a:srgbClr val="8A8A8A"/>
                </a:solidFill>
                <a:latin typeface="Manrope"/>
                <a:cs typeface="Manrope"/>
              </a:rPr>
              <a:t> 14 · Tailwind · </a:t>
            </a:r>
            <a:r>
              <a:rPr sz="1200" b="0" dirty="0" err="1">
                <a:solidFill>
                  <a:srgbClr val="8A8A8A"/>
                </a:solidFill>
                <a:latin typeface="Manrope"/>
                <a:cs typeface="Manrope"/>
              </a:rPr>
              <a:t>shadcn</a:t>
            </a:r>
            <a:r>
              <a:rPr sz="1200" b="0" dirty="0">
                <a:solidFill>
                  <a:srgbClr val="8A8A8A"/>
                </a:solidFill>
                <a:latin typeface="Manrope"/>
                <a:cs typeface="Manrope"/>
              </a:rPr>
              <a:t>/</a:t>
            </a:r>
            <a:r>
              <a:rPr sz="1200" b="0" dirty="0" err="1">
                <a:solidFill>
                  <a:srgbClr val="8A8A8A"/>
                </a:solidFill>
                <a:latin typeface="Manrope"/>
                <a:cs typeface="Manrope"/>
              </a:rPr>
              <a:t>ui</a:t>
            </a:r>
            <a:endParaRPr sz="1200" b="0" dirty="0">
              <a:solidFill>
                <a:srgbClr val="8A8A8A"/>
              </a:solidFill>
              <a:latin typeface="Manrope"/>
              <a:cs typeface="Manrope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125508"/>
            <a:ext cx="11274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125508"/>
            <a:ext cx="73152" cy="5303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2535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Manrope"/>
                <a:cs typeface="Manrope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53524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FastAPI · SSE streaming · per-request 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5860"/>
            <a:ext cx="11274552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655860"/>
            <a:ext cx="73152" cy="5303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78387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Manrope"/>
                <a:cs typeface="Manrope"/>
              </a:rPr>
              <a:t>LLM Abstraction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783876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Unified Provider protocol · Gemini / OpenAI / Anthropic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86212"/>
            <a:ext cx="11274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86212"/>
            <a:ext cx="73152" cy="5303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3142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Manrope"/>
                <a:cs typeface="Manrope"/>
              </a:rPr>
              <a:t>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314228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Router → Diagnostic · RGM Strategy ·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16564"/>
            <a:ext cx="11274552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716564"/>
            <a:ext cx="73152" cy="5303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8445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Manrope"/>
                <a:cs typeface="Manrope"/>
              </a:rPr>
              <a:t>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84458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Manrope"/>
                <a:cs typeface="Manrope"/>
              </a:rPr>
              <a:t>pandas / numpy — scoring, quadrants, velocity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46916"/>
            <a:ext cx="11274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246916"/>
            <a:ext cx="73152" cy="5303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37493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111111"/>
                </a:solidFill>
                <a:latin typeface="Manrope"/>
                <a:cs typeface="Manrope"/>
              </a:rPr>
              <a:t>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374932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8A8A8A"/>
                </a:solidFill>
                <a:latin typeface="Manrope"/>
                <a:cs typeface="Manrope"/>
              </a:rPr>
              <a:t>LangFuse</a:t>
            </a:r>
            <a:r>
              <a:rPr sz="1200" b="0" dirty="0">
                <a:solidFill>
                  <a:srgbClr val="8A8A8A"/>
                </a:solidFill>
                <a:latin typeface="Manrope"/>
                <a:cs typeface="Manrope"/>
              </a:rPr>
              <a:t> — traces · tokens · latency · evals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B69E380-39B1-D85D-1D1A-0EF2D90F1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52"/>
            <a:ext cx="1168399" cy="49109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0746215-8AA8-CCCD-2837-52A92B649DC0}"/>
              </a:ext>
            </a:extLst>
          </p:cNvPr>
          <p:cNvSpPr/>
          <p:nvPr/>
        </p:nvSpPr>
        <p:spPr>
          <a:xfrm>
            <a:off x="455893" y="5766382"/>
            <a:ext cx="11274552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7DDD2F-4FBB-CA1F-AD12-6B934483C1D4}"/>
              </a:ext>
            </a:extLst>
          </p:cNvPr>
          <p:cNvSpPr/>
          <p:nvPr/>
        </p:nvSpPr>
        <p:spPr>
          <a:xfrm>
            <a:off x="457200" y="5758546"/>
            <a:ext cx="73152" cy="5303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662AF4-0BAE-B881-40CE-9C8C428CCB2D}"/>
              </a:ext>
            </a:extLst>
          </p:cNvPr>
          <p:cNvSpPr txBox="1"/>
          <p:nvPr/>
        </p:nvSpPr>
        <p:spPr>
          <a:xfrm>
            <a:off x="731520" y="5906809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300" b="1" dirty="0" err="1">
                <a:solidFill>
                  <a:srgbClr val="111111"/>
                </a:solidFill>
                <a:latin typeface="Manrope"/>
                <a:cs typeface="Manrope"/>
              </a:rPr>
              <a:t>Deployment</a:t>
            </a:r>
            <a:endParaRPr sz="1300" b="1" dirty="0">
              <a:solidFill>
                <a:srgbClr val="111111"/>
              </a:solidFill>
              <a:latin typeface="Manrope"/>
              <a:cs typeface="Manrope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220424-C24D-0F94-7708-404D3734B534}"/>
              </a:ext>
            </a:extLst>
          </p:cNvPr>
          <p:cNvSpPr txBox="1"/>
          <p:nvPr/>
        </p:nvSpPr>
        <p:spPr>
          <a:xfrm>
            <a:off x="4114800" y="5920090"/>
            <a:ext cx="7589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err="1">
                <a:solidFill>
                  <a:srgbClr val="8A8A8A"/>
                </a:solidFill>
                <a:latin typeface="Manrope"/>
                <a:cs typeface="Manrope"/>
              </a:rPr>
              <a:t>Vercel</a:t>
            </a:r>
            <a:r>
              <a:rPr lang="en-US" sz="1200" dirty="0">
                <a:solidFill>
                  <a:srgbClr val="8A8A8A"/>
                </a:solidFill>
                <a:latin typeface="Manrope"/>
                <a:cs typeface="Manrope"/>
              </a:rPr>
              <a:t> · Railway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411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AGENT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nrope"/>
                <a:cs typeface="Manrope"/>
              </a:rPr>
              <a:t>Rappi AI Builder Challenge ·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0528"/>
            <a:ext cx="25877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8A8A8A"/>
                </a:solidFill>
                <a:latin typeface="Manrope"/>
                <a:cs typeface="Manrope"/>
              </a:rPr>
              <a:t>09 / 1</a:t>
            </a:r>
            <a:r>
              <a:rPr lang="es-ES" sz="900" b="0" dirty="0">
                <a:solidFill>
                  <a:srgbClr val="8A8A8A"/>
                </a:solidFill>
                <a:latin typeface="Manrope"/>
                <a:cs typeface="Manrope"/>
              </a:rPr>
              <a:t>1</a:t>
            </a:r>
            <a:endParaRPr sz="900" b="0" dirty="0">
              <a:solidFill>
                <a:srgbClr val="8A8A8A"/>
              </a:solidFill>
              <a:latin typeface="Manrope"/>
              <a:cs typeface="Manrop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440A"/>
                </a:solidFill>
                <a:latin typeface="Manrope"/>
                <a:cs typeface="Manrope"/>
              </a:rPr>
              <a:t>05 / AGENT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Manrope"/>
                <a:cs typeface="Manrope"/>
              </a:rPr>
              <a:t>One router, three specialists.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3657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Manrope"/>
                <a:cs typeface="Manrope"/>
              </a:rPr>
              <a:t>The KAM sees a single chat. The router delegates; each specialist owns its own prompt, tools and evals.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3383280"/>
            <a:ext cx="2377440" cy="822960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354743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nrope"/>
                <a:cs typeface="Manrope"/>
              </a:rPr>
              <a:t>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84919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DDD0"/>
                </a:solidFill>
                <a:latin typeface="Manrope"/>
                <a:cs typeface="Manrope"/>
              </a:rPr>
              <a:t>classify · delegate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95948"/>
            <a:ext cx="3291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595948"/>
            <a:ext cx="411480" cy="731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87026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Manrope"/>
                <a:cs typeface="Manrope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73188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Portfolio overviews,</a:t>
            </a:r>
          </a:p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briefings, drill-down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0" y="4206240"/>
            <a:ext cx="0" cy="640080"/>
          </a:xfrm>
          <a:prstGeom prst="line">
            <a:avLst/>
          </a:prstGeom>
          <a:ln w="9525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297680" y="4595948"/>
            <a:ext cx="3291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4595948"/>
            <a:ext cx="411480" cy="731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487026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Manrope"/>
                <a:cs typeface="Manrope"/>
              </a:rPr>
              <a:t>RGM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373188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Recovery plans,</a:t>
            </a:r>
          </a:p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growth playbooks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0" y="4206240"/>
            <a:ext cx="0" cy="640080"/>
          </a:xfrm>
          <a:prstGeom prst="line">
            <a:avLst/>
          </a:prstGeom>
          <a:ln w="9525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955280" y="4595948"/>
            <a:ext cx="3291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80" y="4595948"/>
            <a:ext cx="411480" cy="73152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487026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Manrope"/>
                <a:cs typeface="Manrope"/>
              </a:rPr>
              <a:t>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373188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Spend, balance,</a:t>
            </a:r>
          </a:p>
          <a:p>
            <a:pPr algn="l"/>
            <a:r>
              <a:rPr sz="1100" b="0">
                <a:solidFill>
                  <a:srgbClr val="8A8A8A"/>
                </a:solidFill>
                <a:latin typeface="Manrope"/>
                <a:cs typeface="Manrope"/>
              </a:rPr>
              <a:t>ROI, escalations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0" y="4206240"/>
            <a:ext cx="0" cy="640080"/>
          </a:xfrm>
          <a:prstGeom prst="line">
            <a:avLst/>
          </a:prstGeom>
          <a:ln w="9525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DADE8B56-8B58-045B-0E28-04682333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52"/>
            <a:ext cx="1168399" cy="4910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411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anrope"/>
                <a:cs typeface="Manrope"/>
              </a:rPr>
              <a:t>AGENT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nrope"/>
                <a:cs typeface="Manrope"/>
              </a:rPr>
              <a:t>Rappi AI Builder Challenge ·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0528"/>
            <a:ext cx="25877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8A8A8A"/>
                </a:solidFill>
                <a:latin typeface="Manrope"/>
                <a:cs typeface="Manrope"/>
              </a:rPr>
              <a:t>10 / 1</a:t>
            </a:r>
            <a:r>
              <a:rPr lang="es-ES" sz="900" b="0" dirty="0">
                <a:solidFill>
                  <a:srgbClr val="8A8A8A"/>
                </a:solidFill>
                <a:latin typeface="Manrope"/>
                <a:cs typeface="Manrope"/>
              </a:rPr>
              <a:t>1</a:t>
            </a:r>
            <a:endParaRPr sz="900" b="0" dirty="0">
              <a:solidFill>
                <a:srgbClr val="8A8A8A"/>
              </a:solidFill>
              <a:latin typeface="Manrope"/>
              <a:cs typeface="Manrop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440A"/>
                </a:solidFill>
                <a:latin typeface="Manrope"/>
                <a:cs typeface="Manrope"/>
              </a:rPr>
              <a:t>05 / AGENT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Manrope"/>
                <a:cs typeface="Manrope"/>
              </a:rPr>
              <a:t>The tool-calling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36576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8A8A8A"/>
                </a:solidFill>
                <a:latin typeface="Manrope"/>
                <a:cs typeface="Manrope"/>
              </a:rPr>
              <a:t>Every agent extends the same </a:t>
            </a:r>
            <a:r>
              <a:rPr sz="1300" b="0" dirty="0" err="1">
                <a:solidFill>
                  <a:srgbClr val="8A8A8A"/>
                </a:solidFill>
                <a:latin typeface="Manrope"/>
                <a:cs typeface="Manrope"/>
              </a:rPr>
              <a:t>BaseAgent</a:t>
            </a:r>
            <a:r>
              <a:rPr sz="1300" b="0" dirty="0">
                <a:solidFill>
                  <a:srgbClr val="8A8A8A"/>
                </a:solidFill>
                <a:latin typeface="Manrope"/>
                <a:cs typeface="Manrope"/>
              </a:rPr>
              <a:t> — bounded, traced, streaming on the final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223113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440A"/>
                </a:solidFill>
                <a:latin typeface="Manrope"/>
                <a:cs typeface="Manrope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1773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Manrope"/>
                <a:cs typeface="Manrope"/>
              </a:rPr>
              <a:t>KAM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17739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8A8A8A"/>
                </a:solidFill>
                <a:latin typeface="Manrope"/>
                <a:cs typeface="Manrope"/>
              </a:rPr>
              <a:t>Arrives at /</a:t>
            </a:r>
            <a:r>
              <a:rPr sz="1000" b="0" dirty="0" err="1">
                <a:solidFill>
                  <a:srgbClr val="8A8A8A"/>
                </a:solidFill>
                <a:latin typeface="Manrope"/>
                <a:cs typeface="Manrope"/>
              </a:rPr>
              <a:t>api</a:t>
            </a:r>
            <a:r>
              <a:rPr sz="1000" b="0" dirty="0">
                <a:solidFill>
                  <a:srgbClr val="8A8A8A"/>
                </a:solidFill>
                <a:latin typeface="Manrope"/>
                <a:cs typeface="Manrope"/>
              </a:rPr>
              <a:t>/chat with {</a:t>
            </a:r>
            <a:r>
              <a:rPr sz="1000" b="0" dirty="0" err="1">
                <a:solidFill>
                  <a:srgbClr val="8A8A8A"/>
                </a:solidFill>
                <a:latin typeface="Manrope"/>
                <a:cs typeface="Manrope"/>
              </a:rPr>
              <a:t>kam</a:t>
            </a:r>
            <a:r>
              <a:rPr sz="1000" b="0" dirty="0">
                <a:solidFill>
                  <a:srgbClr val="8A8A8A"/>
                </a:solidFill>
                <a:latin typeface="Manrope"/>
                <a:cs typeface="Manrope"/>
              </a:rPr>
              <a:t>, messages}.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2344" y="3474720"/>
            <a:ext cx="223113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80944" y="374904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440A"/>
                </a:solidFill>
                <a:latin typeface="Manrope"/>
                <a:cs typeface="Manrop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4297680"/>
            <a:ext cx="1773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Manrope"/>
                <a:cs typeface="Manrope"/>
              </a:rPr>
              <a:t>Router classifies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4846320"/>
            <a:ext cx="17739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8A8A8A"/>
                </a:solidFill>
                <a:latin typeface="Manrope"/>
                <a:cs typeface="Manrope"/>
              </a:rPr>
              <a:t>LLM decides: diagnostic, RGM,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3474720"/>
            <a:ext cx="223113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76088" y="374904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440A"/>
                </a:solidFill>
                <a:latin typeface="Manrope"/>
                <a:cs typeface="Manrop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4297680"/>
            <a:ext cx="1773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Manrope"/>
                <a:cs typeface="Manrope"/>
              </a:rPr>
              <a:t>Sub-agent 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4846320"/>
            <a:ext cx="17739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8A8A8A"/>
                </a:solidFill>
                <a:latin typeface="Manrope"/>
                <a:cs typeface="Manrope"/>
              </a:rPr>
              <a:t>Calls deterministic engine tools.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2632" y="3474720"/>
            <a:ext cx="223113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71232" y="374904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440A"/>
                </a:solidFill>
                <a:latin typeface="Manrope"/>
                <a:cs typeface="Manrop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4297680"/>
            <a:ext cx="1773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Manrope"/>
                <a:cs typeface="Manrope"/>
              </a:rPr>
              <a:t>Loop or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2" y="4846320"/>
            <a:ext cx="17739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8A8A8A"/>
                </a:solidFill>
                <a:latin typeface="Manrope"/>
                <a:cs typeface="Manrope"/>
              </a:rPr>
              <a:t>Bounded 10 iterations; returns to router.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37776" y="3474720"/>
            <a:ext cx="223113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66376" y="374904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440A"/>
                </a:solidFill>
                <a:latin typeface="Manrope"/>
                <a:cs typeface="Manrope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6376" y="4297680"/>
            <a:ext cx="17739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Manrope"/>
                <a:cs typeface="Manrope"/>
              </a:rPr>
              <a:t>Stream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6376" y="4846320"/>
            <a:ext cx="17739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8A8A8A"/>
                </a:solidFill>
                <a:latin typeface="Manrope"/>
                <a:cs typeface="Manrope"/>
              </a:rPr>
              <a:t>Final answer streamed over SSE.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131A300-5846-7D43-B241-C8735B46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9552"/>
            <a:ext cx="1168399" cy="4910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4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27017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DDD0"/>
                </a:solidFill>
                <a:latin typeface="Manrope"/>
                <a:cs typeface="Manrope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41744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dirty="0" err="1">
                <a:solidFill>
                  <a:srgbClr val="FFFFFF"/>
                </a:solidFill>
                <a:latin typeface="Manrope"/>
                <a:cs typeface="Manrope"/>
              </a:rPr>
              <a:t>Vayamos</a:t>
            </a:r>
            <a:r>
              <a:rPr sz="7200" b="1" dirty="0">
                <a:solidFill>
                  <a:srgbClr val="FFFFFF"/>
                </a:solidFill>
                <a:latin typeface="Manrope"/>
                <a:cs typeface="Manrope"/>
              </a:rPr>
              <a:t> al 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50504"/>
            <a:ext cx="82296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3338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rgbClr val="FFEEE0"/>
                </a:solidFill>
                <a:latin typeface="Manrope"/>
                <a:cs typeface="Manrope"/>
              </a:rPr>
              <a:t>Diagnostic → Strategy → Budget, in one conversation.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DDD0"/>
                </a:solidFill>
                <a:latin typeface="Manrope"/>
                <a:cs typeface="Manrope"/>
              </a:rPr>
              <a:t>Rappi AI Builder Challenge · Case 02  ·  Néstor Martínez Ostoa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FEE18-4F99-263F-1989-156258E04627}"/>
              </a:ext>
            </a:extLst>
          </p:cNvPr>
          <p:cNvSpPr txBox="1"/>
          <p:nvPr/>
        </p:nvSpPr>
        <p:spPr>
          <a:xfrm>
            <a:off x="822960" y="4417868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anrope"/>
                <a:cs typeface="Manrop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dirty="0" err="1">
                <a:solidFill>
                  <a:schemeClr val="bg1"/>
                </a:solidFill>
                <a:latin typeface="Manrope"/>
                <a:cs typeface="Manrop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rappi-kam-agent.vercel.app</a:t>
            </a:r>
            <a:r>
              <a:rPr lang="en-US" dirty="0">
                <a:solidFill>
                  <a:schemeClr val="bg1"/>
                </a:solidFill>
                <a:latin typeface="Manrope"/>
                <a:cs typeface="Manrop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/dashboard</a:t>
            </a:r>
            <a:endParaRPr lang="en-US" dirty="0">
              <a:solidFill>
                <a:schemeClr val="bg1"/>
              </a:solidFill>
              <a:latin typeface="Manrope"/>
              <a:cs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820</Words>
  <Application>Microsoft Macintosh PowerPoint</Application>
  <PresentationFormat>Widescreen</PresentationFormat>
  <Paragraphs>177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Nestor Martinez</cp:lastModifiedBy>
  <cp:revision>44</cp:revision>
  <dcterms:created xsi:type="dcterms:W3CDTF">2013-01-27T09:14:16Z</dcterms:created>
  <dcterms:modified xsi:type="dcterms:W3CDTF">2026-04-10T17:47:56Z</dcterms:modified>
  <cp:category/>
</cp:coreProperties>
</file>